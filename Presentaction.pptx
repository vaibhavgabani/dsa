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5" r:id="rId7"/>
    <p:sldId id="289" r:id="rId8"/>
    <p:sldId id="290" r:id="rId9"/>
    <p:sldId id="272" r:id="rId10"/>
    <p:sldId id="273" r:id="rId11"/>
    <p:sldId id="274" r:id="rId12"/>
    <p:sldId id="282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61" r:id="rId22"/>
    <p:sldId id="284" r:id="rId23"/>
    <p:sldId id="286" r:id="rId24"/>
    <p:sldId id="291" r:id="rId25"/>
    <p:sldId id="271" r:id="rId26"/>
  </p:sldIdLst>
  <p:sldSz cx="18288000" cy="10287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Arial Rounded MT Bold" panose="020F0704030504030204" pitchFamily="3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French Script MT" panose="03020402040607040605" pitchFamily="66" charset="0"/>
      <p:regular r:id="rId33"/>
    </p:embeddedFont>
    <p:embeddedFont>
      <p:font typeface="Pompiere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9.svg"/><Relationship Id="rId7" Type="http://schemas.openxmlformats.org/officeDocument/2006/relationships/image" Target="../media/image2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9.svg"/><Relationship Id="rId7" Type="http://schemas.openxmlformats.org/officeDocument/2006/relationships/image" Target="../media/image5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667000" y="0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Google Shape;267;p37">
            <a:extLst>
              <a:ext uri="{FF2B5EF4-FFF2-40B4-BE49-F238E27FC236}">
                <a16:creationId xmlns:a16="http://schemas.microsoft.com/office/drawing/2014/main" id="{7D71DF73-C954-45A2-9A89-4D28F208D578}"/>
              </a:ext>
            </a:extLst>
          </p:cNvPr>
          <p:cNvSpPr txBox="1">
            <a:spLocks/>
          </p:cNvSpPr>
          <p:nvPr/>
        </p:nvSpPr>
        <p:spPr>
          <a:xfrm>
            <a:off x="685800" y="4762500"/>
            <a:ext cx="9657229" cy="17367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6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Role of AI in </a:t>
            </a:r>
          </a:p>
          <a:p>
            <a:pPr algn="just">
              <a:spcBef>
                <a:spcPts val="0"/>
              </a:spcBef>
            </a:pPr>
            <a:r>
              <a:rPr lang="en-US" sz="6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Business Communication</a:t>
            </a:r>
            <a:endParaRPr lang="en-US" sz="1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0BB24A-3079-408C-8258-7111FA554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413" y="1311707"/>
            <a:ext cx="7959798" cy="7625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90600" y="2139830"/>
            <a:ext cx="9669204" cy="1337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34"/>
              </a:lnSpc>
            </a:pPr>
            <a:r>
              <a:rPr lang="en-US" sz="19900" spc="180" dirty="0">
                <a:solidFill>
                  <a:srgbClr val="000000"/>
                </a:solidFill>
                <a:latin typeface="Arial Rounded MT Bold" panose="020F0704030504030204" pitchFamily="34" charset="0"/>
                <a:ea typeface="Krabuler"/>
                <a:cs typeface="Krabuler"/>
                <a:sym typeface="Krabuler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3372" y="3619500"/>
            <a:ext cx="15081255" cy="5262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400" dirty="0">
                <a:latin typeface="+mj-lt"/>
                <a:cs typeface="Arial" panose="020B0604020202020204" pitchFamily="34" charset="0"/>
              </a:rPr>
              <a:t>Basic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use of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Virtual influencer</a:t>
            </a:r>
            <a:endParaRPr lang="en-US" sz="48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AI Chatbot</a:t>
            </a:r>
            <a:endParaRPr lang="en-US" sz="48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Real-Time Language Translation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</a:rPr>
              <a:t>Chat Summaries with Teams Copilot</a:t>
            </a:r>
            <a:endParaRPr lang="en-IN" sz="4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4800" dirty="0">
                <a:latin typeface="+mj-lt"/>
              </a:rPr>
              <a:t>Amazon Q – Generative AI Assistant</a:t>
            </a:r>
            <a:endParaRPr lang="en-IN" sz="4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</a:rPr>
              <a:t>AI Assistants in Vehicles: Smarter </a:t>
            </a:r>
            <a:r>
              <a:rPr lang="en-US" sz="4800">
                <a:latin typeface="+mj-lt"/>
              </a:rPr>
              <a:t>&amp; Safe </a:t>
            </a:r>
            <a:r>
              <a:rPr lang="en-US" sz="4800" dirty="0">
                <a:latin typeface="+mj-lt"/>
              </a:rPr>
              <a:t>Driving</a:t>
            </a:r>
            <a:endParaRPr lang="en-IN" sz="4800" dirty="0">
              <a:latin typeface="+mj-l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B428-41A5-41AA-8AC2-AF29DACF674E}"/>
              </a:ext>
            </a:extLst>
          </p:cNvPr>
          <p:cNvSpPr txBox="1"/>
          <p:nvPr/>
        </p:nvSpPr>
        <p:spPr>
          <a:xfrm>
            <a:off x="1790700" y="419100"/>
            <a:ext cx="14706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Basic</a:t>
            </a: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 use of AI(as Student’s)</a:t>
            </a:r>
            <a:endParaRPr lang="en-IN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EEC843-6781-4679-95C2-2D0E5F8D05B4}"/>
              </a:ext>
            </a:extLst>
          </p:cNvPr>
          <p:cNvSpPr/>
          <p:nvPr/>
        </p:nvSpPr>
        <p:spPr>
          <a:xfrm>
            <a:off x="762000" y="3009901"/>
            <a:ext cx="7772400" cy="509451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C73CAF-1DC8-4DBD-84AB-41A4FB39F506}"/>
              </a:ext>
            </a:extLst>
          </p:cNvPr>
          <p:cNvSpPr/>
          <p:nvPr/>
        </p:nvSpPr>
        <p:spPr>
          <a:xfrm>
            <a:off x="9448800" y="2993572"/>
            <a:ext cx="7772400" cy="5094514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B44CCA-7CDB-4F54-B11B-8A2394D64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5900"/>
            <a:ext cx="6705600" cy="6705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ADD2537-2E6F-4823-A200-9B138E2E8CDF}"/>
              </a:ext>
            </a:extLst>
          </p:cNvPr>
          <p:cNvSpPr txBox="1"/>
          <p:nvPr/>
        </p:nvSpPr>
        <p:spPr>
          <a:xfrm>
            <a:off x="540926" y="495300"/>
            <a:ext cx="480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rial Rounded MT Bold" panose="020F0704030504030204" pitchFamily="34" charset="0"/>
              </a:rPr>
              <a:t>But What is Other use of AI??</a:t>
            </a:r>
            <a:endParaRPr lang="en-IN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82F1D7-97A8-4B8B-B9D6-A2C490862BAB}"/>
              </a:ext>
            </a:extLst>
          </p:cNvPr>
          <p:cNvSpPr txBox="1"/>
          <p:nvPr/>
        </p:nvSpPr>
        <p:spPr>
          <a:xfrm>
            <a:off x="9829800" y="2171700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b="1" dirty="0"/>
              <a:t>Generate images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74190D-866A-447A-8F18-740B9B0781B3}"/>
              </a:ext>
            </a:extLst>
          </p:cNvPr>
          <p:cNvSpPr txBox="1"/>
          <p:nvPr/>
        </p:nvSpPr>
        <p:spPr>
          <a:xfrm>
            <a:off x="9829800" y="3619500"/>
            <a:ext cx="701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b="1" dirty="0"/>
              <a:t>Ask General Questions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2921DF-4C01-4E7F-9990-DA533421D994}"/>
              </a:ext>
            </a:extLst>
          </p:cNvPr>
          <p:cNvSpPr txBox="1"/>
          <p:nvPr/>
        </p:nvSpPr>
        <p:spPr>
          <a:xfrm>
            <a:off x="9828508" y="5906034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sz="6000" b="1" dirty="0"/>
              <a:t>Research ETC..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981200" y="0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D47446-53DC-4B92-817C-5A3DEA0FA8BD}"/>
              </a:ext>
            </a:extLst>
          </p:cNvPr>
          <p:cNvSpPr txBox="1"/>
          <p:nvPr/>
        </p:nvSpPr>
        <p:spPr>
          <a:xfrm>
            <a:off x="788193" y="2074136"/>
            <a:ext cx="7939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i="0" dirty="0">
                <a:effectLst/>
                <a:latin typeface="Arial Rounded MT Bold" panose="020F0704030504030204" pitchFamily="34" charset="0"/>
              </a:rPr>
              <a:t>Virtual influencer</a:t>
            </a:r>
            <a:endParaRPr lang="en-IN" sz="72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A44D3A-19B3-49EA-91A8-6FB2D26F50F8}"/>
              </a:ext>
            </a:extLst>
          </p:cNvPr>
          <p:cNvSpPr/>
          <p:nvPr/>
        </p:nvSpPr>
        <p:spPr>
          <a:xfrm>
            <a:off x="10785529" y="210259"/>
            <a:ext cx="6207071" cy="98298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CB5BA-D9A9-459A-BD06-4776917E0820}"/>
              </a:ext>
            </a:extLst>
          </p:cNvPr>
          <p:cNvSpPr txBox="1"/>
          <p:nvPr/>
        </p:nvSpPr>
        <p:spPr>
          <a:xfrm>
            <a:off x="985874" y="3771900"/>
            <a:ext cx="7543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AI-created influencers, like models, engage audiences, represent brands, and interact like real humans, redefining digital marketing.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made by </a:t>
            </a:r>
            <a:r>
              <a:rPr lang="en-US" sz="3600" dirty="0" err="1"/>
              <a:t>Avtr</a:t>
            </a:r>
            <a:r>
              <a:rPr lang="en-US" sz="3600" dirty="0"/>
              <a:t> Meta Labs.</a:t>
            </a:r>
            <a:endParaRPr lang="en-IN" sz="36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253658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ADF786-8FA5-4440-AA14-06BD0D87AB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31" y="6134100"/>
            <a:ext cx="1114212" cy="1114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850D9D-3A2F-4341-B1AD-D4B84CEFCDAE}"/>
              </a:ext>
            </a:extLst>
          </p:cNvPr>
          <p:cNvSpPr txBox="1"/>
          <p:nvPr/>
        </p:nvSpPr>
        <p:spPr>
          <a:xfrm flipH="1">
            <a:off x="1878035" y="6228993"/>
            <a:ext cx="418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455K Subscribers</a:t>
            </a:r>
            <a:endParaRPr lang="en-IN" sz="44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53A5-FD21-4C53-BB54-372F432A87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31" y="4831351"/>
            <a:ext cx="1013435" cy="10134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11849B-D7CD-40EB-984E-9EF691248977}"/>
              </a:ext>
            </a:extLst>
          </p:cNvPr>
          <p:cNvSpPr txBox="1"/>
          <p:nvPr/>
        </p:nvSpPr>
        <p:spPr>
          <a:xfrm flipH="1">
            <a:off x="1857371" y="4953347"/>
            <a:ext cx="45150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426K follower's</a:t>
            </a:r>
            <a:endParaRPr lang="en-IN" sz="4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F19DB-279D-45D8-9E1E-80312CEB6303}"/>
              </a:ext>
            </a:extLst>
          </p:cNvPr>
          <p:cNvSpPr txBox="1"/>
          <p:nvPr/>
        </p:nvSpPr>
        <p:spPr>
          <a:xfrm>
            <a:off x="429467" y="3031510"/>
            <a:ext cx="673466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0" b="1" i="0" dirty="0" err="1">
                <a:effectLst/>
                <a:latin typeface="Arial Rounded MT Bold" panose="020F0704030504030204" pitchFamily="34" charset="0"/>
              </a:rPr>
              <a:t>Naina</a:t>
            </a:r>
            <a:r>
              <a:rPr lang="en-IN" sz="10000" b="1" i="0" dirty="0">
                <a:effectLst/>
                <a:latin typeface="Arial Rounded MT Bold" panose="020F0704030504030204" pitchFamily="34" charset="0"/>
              </a:rPr>
              <a:t> </a:t>
            </a:r>
            <a:r>
              <a:rPr lang="en-IN" sz="10000" b="1" i="0" dirty="0" err="1">
                <a:effectLst/>
                <a:latin typeface="Arial Rounded MT Bold" panose="020F0704030504030204" pitchFamily="34" charset="0"/>
              </a:rPr>
              <a:t>Avtr</a:t>
            </a:r>
            <a:endParaRPr lang="en-IN" sz="10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8E733A-BDFF-478F-A210-65DB60DF8809}"/>
              </a:ext>
            </a:extLst>
          </p:cNvPr>
          <p:cNvSpPr/>
          <p:nvPr/>
        </p:nvSpPr>
        <p:spPr>
          <a:xfrm>
            <a:off x="7955875" y="1862130"/>
            <a:ext cx="4388525" cy="69723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CD00B4-992F-4D81-A238-E6B3B92DCF55}"/>
              </a:ext>
            </a:extLst>
          </p:cNvPr>
          <p:cNvSpPr/>
          <p:nvPr/>
        </p:nvSpPr>
        <p:spPr>
          <a:xfrm>
            <a:off x="12901506" y="1834362"/>
            <a:ext cx="4573428" cy="6858000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00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253658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53A5-FD21-4C53-BB54-372F432A87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59" y="5638617"/>
            <a:ext cx="1013435" cy="10134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11849B-D7CD-40EB-984E-9EF691248977}"/>
              </a:ext>
            </a:extLst>
          </p:cNvPr>
          <p:cNvSpPr txBox="1"/>
          <p:nvPr/>
        </p:nvSpPr>
        <p:spPr>
          <a:xfrm flipH="1">
            <a:off x="2047999" y="5760613"/>
            <a:ext cx="45150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2.4M follower's</a:t>
            </a:r>
            <a:endParaRPr lang="en-IN" sz="4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F19DB-279D-45D8-9E1E-80312CEB6303}"/>
              </a:ext>
            </a:extLst>
          </p:cNvPr>
          <p:cNvSpPr txBox="1"/>
          <p:nvPr/>
        </p:nvSpPr>
        <p:spPr>
          <a:xfrm>
            <a:off x="749859" y="3924300"/>
            <a:ext cx="52501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9600" b="1" i="0" dirty="0" err="1">
                <a:effectLst/>
                <a:latin typeface="-apple-system"/>
              </a:rPr>
              <a:t>lilmiquela</a:t>
            </a:r>
            <a:endParaRPr lang="en-IN" sz="9600" b="1" i="0" dirty="0">
              <a:effectLst/>
              <a:latin typeface="-apple-system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8E733A-BDFF-478F-A210-65DB60DF8809}"/>
              </a:ext>
            </a:extLst>
          </p:cNvPr>
          <p:cNvSpPr/>
          <p:nvPr/>
        </p:nvSpPr>
        <p:spPr>
          <a:xfrm>
            <a:off x="6553200" y="548035"/>
            <a:ext cx="8892026" cy="5137998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E256F2-80F3-4AB5-AC33-659EE8C55D2E}"/>
              </a:ext>
            </a:extLst>
          </p:cNvPr>
          <p:cNvSpPr/>
          <p:nvPr/>
        </p:nvSpPr>
        <p:spPr>
          <a:xfrm>
            <a:off x="12496800" y="4123757"/>
            <a:ext cx="5336560" cy="5820782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7E6C64-E579-4E14-A18F-41A7AA118FE3}"/>
              </a:ext>
            </a:extLst>
          </p:cNvPr>
          <p:cNvSpPr txBox="1"/>
          <p:nvPr/>
        </p:nvSpPr>
        <p:spPr>
          <a:xfrm>
            <a:off x="6436964" y="6523005"/>
            <a:ext cx="6095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Calvin Klein, Prada, Samsung , LEVI’S , Apple , BMW , Audi LV(Louis Vuitton) , NIKE , etc..</a:t>
            </a:r>
            <a:endParaRPr lang="en-IN" sz="3200" b="1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98984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408641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8E733A-BDFF-478F-A210-65DB60DF8809}"/>
              </a:ext>
            </a:extLst>
          </p:cNvPr>
          <p:cNvSpPr/>
          <p:nvPr/>
        </p:nvSpPr>
        <p:spPr>
          <a:xfrm>
            <a:off x="381000" y="1324742"/>
            <a:ext cx="8439986" cy="48768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2F41CD-F3B1-4EF0-AAE1-BCA83D4B4EDE}"/>
              </a:ext>
            </a:extLst>
          </p:cNvPr>
          <p:cNvSpPr/>
          <p:nvPr/>
        </p:nvSpPr>
        <p:spPr>
          <a:xfrm>
            <a:off x="9261751" y="1411930"/>
            <a:ext cx="8279036" cy="47838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8D15A-5D14-4563-A91B-8256ADF33766}"/>
              </a:ext>
            </a:extLst>
          </p:cNvPr>
          <p:cNvSpPr txBox="1"/>
          <p:nvPr/>
        </p:nvSpPr>
        <p:spPr>
          <a:xfrm>
            <a:off x="9391403" y="7039742"/>
            <a:ext cx="533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Arial Black" panose="020B0A04020102020204" pitchFamily="34" charset="0"/>
              </a:rPr>
              <a:t>theclueless.ai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77AE19-EF22-405D-BD71-D8B69FCBF913}"/>
              </a:ext>
            </a:extLst>
          </p:cNvPr>
          <p:cNvSpPr txBox="1"/>
          <p:nvPr/>
        </p:nvSpPr>
        <p:spPr>
          <a:xfrm>
            <a:off x="1295400" y="7137981"/>
            <a:ext cx="533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err="1">
                <a:latin typeface="Arial Black" panose="020B0A04020102020204" pitchFamily="34" charset="0"/>
              </a:rPr>
              <a:t>Aajtak</a:t>
            </a:r>
            <a:r>
              <a:rPr lang="en-IN" sz="4800" dirty="0">
                <a:latin typeface="Arial Black" panose="020B0A04020102020204" pitchFamily="34" charset="0"/>
              </a:rPr>
              <a:t>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389EA8-168C-4D84-A7B7-D34C1EE53D86}"/>
              </a:ext>
            </a:extLst>
          </p:cNvPr>
          <p:cNvSpPr txBox="1"/>
          <p:nvPr/>
        </p:nvSpPr>
        <p:spPr>
          <a:xfrm>
            <a:off x="1295400" y="8074420"/>
            <a:ext cx="5756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INDIA’S FIRST AI NEWS CHANNEL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ECD46-5ED7-4A89-BE3C-EFA4096D51DC}"/>
              </a:ext>
            </a:extLst>
          </p:cNvPr>
          <p:cNvSpPr txBox="1"/>
          <p:nvPr/>
        </p:nvSpPr>
        <p:spPr>
          <a:xfrm>
            <a:off x="9391402" y="7968978"/>
            <a:ext cx="7448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Arial "/>
              </a:rPr>
              <a:t>We are an agency dedicated to creating AI-powered models and avatars.</a:t>
            </a:r>
            <a:endParaRPr lang="en-IN" sz="2400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103186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981200" y="0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D47446-53DC-4B92-817C-5A3DEA0FA8BD}"/>
              </a:ext>
            </a:extLst>
          </p:cNvPr>
          <p:cNvSpPr txBox="1"/>
          <p:nvPr/>
        </p:nvSpPr>
        <p:spPr>
          <a:xfrm>
            <a:off x="609600" y="495300"/>
            <a:ext cx="6508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b="1" dirty="0">
                <a:latin typeface="Arial Rounded MT Bold" panose="020F0704030504030204" pitchFamily="34" charset="0"/>
              </a:rPr>
              <a:t>AI C</a:t>
            </a:r>
            <a:r>
              <a:rPr lang="en-IN" sz="9600" b="1" i="0" dirty="0">
                <a:effectLst/>
                <a:latin typeface="Arial Rounded MT Bold" panose="020F0704030504030204" pitchFamily="34" charset="0"/>
              </a:rPr>
              <a:t>hatbot</a:t>
            </a:r>
            <a:endParaRPr lang="en-IN" sz="7200" b="1" dirty="0">
              <a:latin typeface="Arial Rounded MT Bold" panose="020F07040305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A44D3A-19B3-49EA-91A8-6FB2D26F50F8}"/>
              </a:ext>
            </a:extLst>
          </p:cNvPr>
          <p:cNvSpPr/>
          <p:nvPr/>
        </p:nvSpPr>
        <p:spPr>
          <a:xfrm>
            <a:off x="9906000" y="1831487"/>
            <a:ext cx="7210244" cy="6834863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E2400-12EC-4932-B804-5354CA1C7671}"/>
              </a:ext>
            </a:extLst>
          </p:cNvPr>
          <p:cNvSpPr txBox="1"/>
          <p:nvPr/>
        </p:nvSpPr>
        <p:spPr>
          <a:xfrm>
            <a:off x="1171756" y="2402740"/>
            <a:ext cx="83532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 Rounded MT Bold" panose="020F0704030504030204" pitchFamily="34" charset="0"/>
              </a:rPr>
              <a:t>AI chatbots, used by companies like Amazon, Google, Microsoft, and Meta, enhance customer service, automate tasks, and provide instant support.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Arial Rounded MT Bold" panose="020F0704030504030204" pitchFamily="34" charset="0"/>
              </a:rPr>
              <a:t>Providers include </a:t>
            </a:r>
            <a:r>
              <a:rPr lang="en-IN" sz="3600" dirty="0" err="1">
                <a:latin typeface="Arial Rounded MT Bold" panose="020F0704030504030204" pitchFamily="34" charset="0"/>
              </a:rPr>
              <a:t>OpenAI</a:t>
            </a:r>
            <a:r>
              <a:rPr lang="en-IN" sz="3600" dirty="0">
                <a:latin typeface="Arial Rounded MT Bold" panose="020F0704030504030204" pitchFamily="34" charset="0"/>
              </a:rPr>
              <a:t> (</a:t>
            </a:r>
            <a:r>
              <a:rPr lang="en-IN" sz="3600" dirty="0" err="1">
                <a:latin typeface="Arial Rounded MT Bold" panose="020F0704030504030204" pitchFamily="34" charset="0"/>
              </a:rPr>
              <a:t>ChatGPT</a:t>
            </a:r>
            <a:r>
              <a:rPr lang="en-IN" sz="3600" dirty="0">
                <a:latin typeface="Arial Rounded MT Bold" panose="020F0704030504030204" pitchFamily="34" charset="0"/>
              </a:rPr>
              <a:t>), IBM Watson, Drift, and Kore.ai</a:t>
            </a:r>
            <a:r>
              <a:rPr lang="en-US" sz="3600" dirty="0">
                <a:latin typeface="Arial Rounded MT Bold" panose="020F0704030504030204" pitchFamily="34" charset="0"/>
              </a:rPr>
              <a:t> , </a:t>
            </a:r>
            <a:r>
              <a:rPr lang="en-US" sz="3600" dirty="0" err="1">
                <a:latin typeface="Arial Rounded MT Bold" panose="020F0704030504030204" pitchFamily="34" charset="0"/>
              </a:rPr>
              <a:t>chatbase</a:t>
            </a:r>
            <a:endParaRPr lang="en-IN" sz="3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21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B428-41A5-41AA-8AC2-AF29DACF674E}"/>
              </a:ext>
            </a:extLst>
          </p:cNvPr>
          <p:cNvSpPr txBox="1"/>
          <p:nvPr/>
        </p:nvSpPr>
        <p:spPr>
          <a:xfrm>
            <a:off x="1790700" y="419100"/>
            <a:ext cx="14706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latin typeface="Arial Rounded MT Bold" panose="020F0704030504030204" pitchFamily="34" charset="0"/>
              </a:rPr>
              <a:t>AI C</a:t>
            </a:r>
            <a:r>
              <a:rPr lang="en-IN" sz="8800" b="1" i="0" dirty="0">
                <a:effectLst/>
                <a:latin typeface="Arial Rounded MT Bold" panose="020F0704030504030204" pitchFamily="34" charset="0"/>
              </a:rPr>
              <a:t>hatbot</a:t>
            </a:r>
            <a:endParaRPr lang="en-IN" sz="66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61C4E-8E09-4659-A673-4A371A636788}"/>
              </a:ext>
            </a:extLst>
          </p:cNvPr>
          <p:cNvSpPr txBox="1"/>
          <p:nvPr/>
        </p:nvSpPr>
        <p:spPr>
          <a:xfrm>
            <a:off x="2133600" y="2835176"/>
            <a:ext cx="1287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In terms of financial impact, a 2018 study by Juniper Research projected that by 2023, chatbots would save businesses in the retail, banking, and healthcare sectors </a:t>
            </a:r>
            <a:r>
              <a:rPr lang="en-US" sz="3600" b="1" dirty="0">
                <a:highlight>
                  <a:srgbClr val="C0C0C0"/>
                </a:highlight>
              </a:rPr>
              <a:t>$11 billion annually </a:t>
            </a:r>
            <a:r>
              <a:rPr lang="en-US" sz="3600" b="1" dirty="0"/>
              <a:t>in customer service costs. 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28159-CFB4-4817-AC81-355B2CFAC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100" y="5295900"/>
            <a:ext cx="4800600" cy="480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2F2F86-6D33-47CA-A62B-52CF34FACFBD}"/>
              </a:ext>
            </a:extLst>
          </p:cNvPr>
          <p:cNvSpPr txBox="1"/>
          <p:nvPr/>
        </p:nvSpPr>
        <p:spPr>
          <a:xfrm>
            <a:off x="10896600" y="7127200"/>
            <a:ext cx="26625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atin typeface="Arial Rounded MT Bold" panose="020F0704030504030204" pitchFamily="34" charset="0"/>
              </a:rPr>
              <a:t>BY</a:t>
            </a:r>
            <a:r>
              <a:rPr lang="en-US" sz="8800" b="1" dirty="0"/>
              <a:t>: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464432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7670131" y="8661831"/>
            <a:ext cx="12159733" cy="1680254"/>
          </a:xfrm>
          <a:custGeom>
            <a:avLst/>
            <a:gdLst/>
            <a:ahLst/>
            <a:cxnLst/>
            <a:rect l="l" t="t" r="r" b="b"/>
            <a:pathLst>
              <a:path w="12159733" h="1680254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981200" y="0"/>
            <a:ext cx="13032502" cy="1800855"/>
          </a:xfrm>
          <a:custGeom>
            <a:avLst/>
            <a:gdLst/>
            <a:ahLst/>
            <a:cxnLst/>
            <a:rect l="l" t="t" r="r" b="b"/>
            <a:pathLst>
              <a:path w="13032502" h="1800855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D47446-53DC-4B92-817C-5A3DEA0FA8BD}"/>
              </a:ext>
            </a:extLst>
          </p:cNvPr>
          <p:cNvSpPr txBox="1"/>
          <p:nvPr/>
        </p:nvSpPr>
        <p:spPr>
          <a:xfrm>
            <a:off x="228600" y="673900"/>
            <a:ext cx="104417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rial Rounded MT Bold" panose="020F0704030504030204" pitchFamily="34" charset="0"/>
              </a:rPr>
              <a:t>Real-Time Language Translation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D6079-5D3C-4D74-A028-CA8F328ABCA5}"/>
              </a:ext>
            </a:extLst>
          </p:cNvPr>
          <p:cNvSpPr txBox="1"/>
          <p:nvPr/>
        </p:nvSpPr>
        <p:spPr>
          <a:xfrm>
            <a:off x="762000" y="4801446"/>
            <a:ext cx="861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An AI tool that instantly translates live conversations, enabling clear communication between speakers of different languages.</a:t>
            </a:r>
            <a:endParaRPr lang="en-IN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0331E-B67F-4BDC-891F-546D2F8ACE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6" t="6774" r="27494" b="70827"/>
          <a:stretch/>
        </p:blipFill>
        <p:spPr>
          <a:xfrm>
            <a:off x="762000" y="7796746"/>
            <a:ext cx="6705600" cy="180085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ADF301-019F-4218-BAAA-7DA00FFF8C32}"/>
              </a:ext>
            </a:extLst>
          </p:cNvPr>
          <p:cNvSpPr/>
          <p:nvPr/>
        </p:nvSpPr>
        <p:spPr>
          <a:xfrm>
            <a:off x="11735951" y="832688"/>
            <a:ext cx="5181600" cy="8590627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55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006F62-6F5F-4496-AB11-EA526611D4E6}"/>
              </a:ext>
            </a:extLst>
          </p:cNvPr>
          <p:cNvSpPr/>
          <p:nvPr/>
        </p:nvSpPr>
        <p:spPr>
          <a:xfrm>
            <a:off x="838200" y="1324742"/>
            <a:ext cx="4800600" cy="7580676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3EF7C6-B0D5-41DC-8BE0-4E9167665552}"/>
              </a:ext>
            </a:extLst>
          </p:cNvPr>
          <p:cNvSpPr/>
          <p:nvPr/>
        </p:nvSpPr>
        <p:spPr>
          <a:xfrm>
            <a:off x="6400800" y="1353162"/>
            <a:ext cx="5486400" cy="7580676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91539-7479-473F-9B9B-04274106DE8A}"/>
              </a:ext>
            </a:extLst>
          </p:cNvPr>
          <p:cNvSpPr txBox="1"/>
          <p:nvPr/>
        </p:nvSpPr>
        <p:spPr>
          <a:xfrm>
            <a:off x="12573000" y="2400300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rial Rounded MT Bold" panose="020F0704030504030204" pitchFamily="34" charset="0"/>
              </a:rPr>
              <a:t>Convert Normal text into Professional</a:t>
            </a:r>
            <a:endParaRPr lang="en-IN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11" name="Freeform 35">
            <a:extLst>
              <a:ext uri="{FF2B5EF4-FFF2-40B4-BE49-F238E27FC236}">
                <a16:creationId xmlns:a16="http://schemas.microsoft.com/office/drawing/2014/main" id="{4C62E1A3-01D8-4DCD-989D-4A2529563FF4}"/>
              </a:ext>
            </a:extLst>
          </p:cNvPr>
          <p:cNvSpPr/>
          <p:nvPr/>
        </p:nvSpPr>
        <p:spPr>
          <a:xfrm rot="11035013">
            <a:off x="11867926" y="2088144"/>
            <a:ext cx="1307544" cy="595894"/>
          </a:xfrm>
          <a:custGeom>
            <a:avLst/>
            <a:gdLst/>
            <a:ahLst/>
            <a:cxnLst/>
            <a:rect l="l" t="t" r="r" b="b"/>
            <a:pathLst>
              <a:path w="1307544" h="595894">
                <a:moveTo>
                  <a:pt x="0" y="0"/>
                </a:moveTo>
                <a:lnTo>
                  <a:pt x="1307544" y="0"/>
                </a:lnTo>
                <a:lnTo>
                  <a:pt x="1307544" y="595893"/>
                </a:lnTo>
                <a:lnTo>
                  <a:pt x="0" y="59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4900"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F6996-9004-40E7-9D51-A1422D8D66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2994" y="5295900"/>
            <a:ext cx="5016812" cy="282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3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B428-41A5-41AA-8AC2-AF29DACF674E}"/>
              </a:ext>
            </a:extLst>
          </p:cNvPr>
          <p:cNvSpPr txBox="1"/>
          <p:nvPr/>
        </p:nvSpPr>
        <p:spPr>
          <a:xfrm>
            <a:off x="1790700" y="419100"/>
            <a:ext cx="16344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rial Rounded MT Bold" panose="020F0704030504030204" pitchFamily="34" charset="0"/>
              </a:rPr>
              <a:t>Chat Summaries with Teams Copilot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61C4E-8E09-4659-A673-4A371A636788}"/>
              </a:ext>
            </a:extLst>
          </p:cNvPr>
          <p:cNvSpPr txBox="1"/>
          <p:nvPr/>
        </p:nvSpPr>
        <p:spPr>
          <a:xfrm>
            <a:off x="1920506" y="3214114"/>
            <a:ext cx="1287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Microsoft Teams Copilot uses AI to automatically summarize chats and analyze conversations, highlighting key insights and action items.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3DF1A-C0F1-4DAC-8141-9F4844D08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5981700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81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006F62-6F5F-4496-AB11-EA526611D4E6}"/>
              </a:ext>
            </a:extLst>
          </p:cNvPr>
          <p:cNvSpPr/>
          <p:nvPr/>
        </p:nvSpPr>
        <p:spPr>
          <a:xfrm>
            <a:off x="838200" y="1324742"/>
            <a:ext cx="8077200" cy="7580676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4035BD-E892-419E-9615-E7AA0871E520}"/>
              </a:ext>
            </a:extLst>
          </p:cNvPr>
          <p:cNvSpPr/>
          <p:nvPr/>
        </p:nvSpPr>
        <p:spPr>
          <a:xfrm>
            <a:off x="9399816" y="1485900"/>
            <a:ext cx="8382000" cy="55626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922A9-7C46-4ABD-992E-6D70402D5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1125" y="7792811"/>
            <a:ext cx="46386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53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B428-41A5-41AA-8AC2-AF29DACF674E}"/>
              </a:ext>
            </a:extLst>
          </p:cNvPr>
          <p:cNvSpPr txBox="1"/>
          <p:nvPr/>
        </p:nvSpPr>
        <p:spPr>
          <a:xfrm>
            <a:off x="1790700" y="419100"/>
            <a:ext cx="16344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0" b="1" dirty="0">
                <a:latin typeface="Arial Rounded MT Bold" panose="020F0704030504030204" pitchFamily="34" charset="0"/>
              </a:rPr>
              <a:t>Amazon Q – Generative AI Assistant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61C4E-8E09-4659-A673-4A371A636788}"/>
              </a:ext>
            </a:extLst>
          </p:cNvPr>
          <p:cNvSpPr txBox="1"/>
          <p:nvPr/>
        </p:nvSpPr>
        <p:spPr>
          <a:xfrm>
            <a:off x="1920506" y="3214114"/>
            <a:ext cx="1287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Amazon Q – Generative AI Assistant is a tool that uses AI to automate tasks like content generation, data analysis, customer support, and business process automation, helping users save time and boost productivity.</a:t>
            </a:r>
            <a:endParaRPr lang="en-I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05882-D887-46C6-B2E4-A1926CEAE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077" y="5774818"/>
            <a:ext cx="2895600" cy="289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8166D7-0C92-4909-B576-46B005BC8BF1}"/>
              </a:ext>
            </a:extLst>
          </p:cNvPr>
          <p:cNvSpPr txBox="1"/>
          <p:nvPr/>
        </p:nvSpPr>
        <p:spPr>
          <a:xfrm flipH="1">
            <a:off x="14097000" y="8922798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latin typeface="Arial Rounded MT Bold" panose="020F0704030504030204" pitchFamily="34" charset="0"/>
              </a:rPr>
              <a:t>Amazon Q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976126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9F618-EB05-40D9-A9DE-F89055FD6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3243"/>
            <a:ext cx="9543786" cy="7162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231733-99A7-47F6-B1A4-40F587FD481D}"/>
              </a:ext>
            </a:extLst>
          </p:cNvPr>
          <p:cNvSpPr/>
          <p:nvPr/>
        </p:nvSpPr>
        <p:spPr>
          <a:xfrm>
            <a:off x="9982200" y="1453243"/>
            <a:ext cx="6667500" cy="66675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9B428-41A5-41AA-8AC2-AF29DACF674E}"/>
              </a:ext>
            </a:extLst>
          </p:cNvPr>
          <p:cNvSpPr txBox="1"/>
          <p:nvPr/>
        </p:nvSpPr>
        <p:spPr>
          <a:xfrm>
            <a:off x="1790700" y="419100"/>
            <a:ext cx="16344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rial Rounded MT Bold" panose="020F0704030504030204" pitchFamily="34" charset="0"/>
              </a:rPr>
              <a:t>AI Assistants in Vehicles: Smarter &amp; Safer Driving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61C4E-8E09-4659-A673-4A371A636788}"/>
              </a:ext>
            </a:extLst>
          </p:cNvPr>
          <p:cNvSpPr txBox="1"/>
          <p:nvPr/>
        </p:nvSpPr>
        <p:spPr>
          <a:xfrm>
            <a:off x="1790700" y="3543534"/>
            <a:ext cx="1287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AI assistants like Mercedes MBUX, BMW Intelligent Personal Assistant &amp; Mahindra MAIA enhance driving with voice control, personalized experiences, and advanced safety features.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15379-792C-45CF-B3DE-A60BC2498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762" y="7989109"/>
            <a:ext cx="1862462" cy="1862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FECAD1-2E2A-4FD5-A7BE-0FD0148F88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49"/>
          <a:stretch/>
        </p:blipFill>
        <p:spPr>
          <a:xfrm>
            <a:off x="12378062" y="7816477"/>
            <a:ext cx="2290438" cy="20350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E7C8C9-EBA1-47BE-B0DB-987A2026A1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200" y="8010880"/>
            <a:ext cx="2819400" cy="15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17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4098675" y="8905418"/>
            <a:ext cx="9279203" cy="2078243"/>
          </a:xfrm>
          <a:custGeom>
            <a:avLst/>
            <a:gdLst/>
            <a:ahLst/>
            <a:cxnLst/>
            <a:rect l="l" t="t" r="r" b="b"/>
            <a:pathLst>
              <a:path w="9279203" h="207824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/>
            </a:stretch>
          </a:blipFill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4035BD-E892-419E-9615-E7AA0871E520}"/>
              </a:ext>
            </a:extLst>
          </p:cNvPr>
          <p:cNvSpPr/>
          <p:nvPr/>
        </p:nvSpPr>
        <p:spPr>
          <a:xfrm>
            <a:off x="9372600" y="2171700"/>
            <a:ext cx="8382000" cy="55626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547133-ED18-4AA2-A67B-A069B754F1E9}"/>
              </a:ext>
            </a:extLst>
          </p:cNvPr>
          <p:cNvSpPr/>
          <p:nvPr/>
        </p:nvSpPr>
        <p:spPr>
          <a:xfrm>
            <a:off x="457197" y="2171700"/>
            <a:ext cx="8382000" cy="55626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381ED-8DF5-48DD-9D40-E95E27B17625}"/>
              </a:ext>
            </a:extLst>
          </p:cNvPr>
          <p:cNvSpPr txBox="1"/>
          <p:nvPr/>
        </p:nvSpPr>
        <p:spPr>
          <a:xfrm flipH="1">
            <a:off x="1158772" y="570478"/>
            <a:ext cx="617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Rounded MT Bold" panose="020F0704030504030204" pitchFamily="34" charset="0"/>
              </a:rPr>
              <a:t>Basic Features :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41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A7A55C-7F52-49B3-B4FA-16B2ADF48FDF}"/>
              </a:ext>
            </a:extLst>
          </p:cNvPr>
          <p:cNvSpPr/>
          <p:nvPr/>
        </p:nvSpPr>
        <p:spPr>
          <a:xfrm>
            <a:off x="457197" y="2171700"/>
            <a:ext cx="8382000" cy="55626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97CDDB-9015-4E9A-8365-7FB587A9E3EF}"/>
              </a:ext>
            </a:extLst>
          </p:cNvPr>
          <p:cNvSpPr/>
          <p:nvPr/>
        </p:nvSpPr>
        <p:spPr>
          <a:xfrm>
            <a:off x="9448803" y="2144486"/>
            <a:ext cx="8382000" cy="55626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FAAF8-B9F0-4B05-973D-7631B4B0013A}"/>
              </a:ext>
            </a:extLst>
          </p:cNvPr>
          <p:cNvSpPr txBox="1"/>
          <p:nvPr/>
        </p:nvSpPr>
        <p:spPr>
          <a:xfrm flipH="1">
            <a:off x="1045032" y="764848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Rounded MT Bold" panose="020F0704030504030204" pitchFamily="34" charset="0"/>
              </a:rPr>
              <a:t>Advanced  Features :</a:t>
            </a:r>
            <a:endParaRPr lang="en-IN" sz="60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9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A7A55C-7F52-49B3-B4FA-16B2ADF48FDF}"/>
              </a:ext>
            </a:extLst>
          </p:cNvPr>
          <p:cNvSpPr/>
          <p:nvPr/>
        </p:nvSpPr>
        <p:spPr>
          <a:xfrm>
            <a:off x="457197" y="2144486"/>
            <a:ext cx="8382000" cy="556260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97CDDB-9015-4E9A-8365-7FB587A9E3EF}"/>
              </a:ext>
            </a:extLst>
          </p:cNvPr>
          <p:cNvSpPr/>
          <p:nvPr/>
        </p:nvSpPr>
        <p:spPr>
          <a:xfrm>
            <a:off x="9448803" y="2144486"/>
            <a:ext cx="8382000" cy="55626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40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705A696E-EC34-4519-9ED8-4E8B1F14DABE}"/>
              </a:ext>
            </a:extLst>
          </p:cNvPr>
          <p:cNvSpPr txBox="1"/>
          <p:nvPr/>
        </p:nvSpPr>
        <p:spPr>
          <a:xfrm flipH="1">
            <a:off x="1981200" y="2781300"/>
            <a:ext cx="15849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400" dirty="0">
                <a:latin typeface="+mj-lt"/>
                <a:cs typeface="Arial" panose="020B0604020202020204" pitchFamily="34" charset="0"/>
              </a:rPr>
              <a:t>Basic</a:t>
            </a:r>
            <a:r>
              <a:rPr lang="en-US" sz="4800" dirty="0">
                <a:latin typeface="+mj-lt"/>
                <a:cs typeface="Arial" panose="020B0604020202020204" pitchFamily="34" charset="0"/>
              </a:rPr>
              <a:t> use of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Virtual influencer</a:t>
            </a:r>
            <a:endParaRPr lang="en-US" sz="48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AI Chatbot</a:t>
            </a:r>
            <a:endParaRPr lang="en-US" sz="4800" dirty="0">
              <a:latin typeface="+mj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800" dirty="0">
                <a:latin typeface="+mj-lt"/>
              </a:rPr>
              <a:t>Real-Time Language Translation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</a:rPr>
              <a:t>Chat Summaries with Teams Copilot</a:t>
            </a:r>
            <a:endParaRPr lang="en-IN" sz="4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4800" dirty="0">
                <a:latin typeface="+mj-lt"/>
              </a:rPr>
              <a:t>Amazon Q – Generative AI Assistant</a:t>
            </a:r>
            <a:endParaRPr lang="en-IN" sz="4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</a:rPr>
              <a:t>AI Assistants in Vehicles: Smarter &amp; Safer Driving</a:t>
            </a:r>
            <a:endParaRPr lang="en-IN" sz="4800" dirty="0">
              <a:latin typeface="+mj-lt"/>
            </a:endParaRPr>
          </a:p>
        </p:txBody>
      </p:sp>
      <p:sp>
        <p:nvSpPr>
          <p:cNvPr id="49" name="Freeform 4">
            <a:extLst>
              <a:ext uri="{FF2B5EF4-FFF2-40B4-BE49-F238E27FC236}">
                <a16:creationId xmlns:a16="http://schemas.microsoft.com/office/drawing/2014/main" id="{CE8A1756-175C-4DCA-8DA8-ABF9A6E68091}"/>
              </a:ext>
            </a:extLst>
          </p:cNvPr>
          <p:cNvSpPr/>
          <p:nvPr/>
        </p:nvSpPr>
        <p:spPr>
          <a:xfrm rot="197702">
            <a:off x="-636843" y="-447709"/>
            <a:ext cx="9699658" cy="3103890"/>
          </a:xfrm>
          <a:custGeom>
            <a:avLst/>
            <a:gdLst/>
            <a:ahLst/>
            <a:cxnLst/>
            <a:rect l="l" t="t" r="r" b="b"/>
            <a:pathLst>
              <a:path w="9699658" h="3103890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">
            <a:extLst>
              <a:ext uri="{FF2B5EF4-FFF2-40B4-BE49-F238E27FC236}">
                <a16:creationId xmlns:a16="http://schemas.microsoft.com/office/drawing/2014/main" id="{1307673A-A638-4019-8792-BA7E98FAEDA3}"/>
              </a:ext>
            </a:extLst>
          </p:cNvPr>
          <p:cNvSpPr txBox="1"/>
          <p:nvPr/>
        </p:nvSpPr>
        <p:spPr>
          <a:xfrm>
            <a:off x="-456291" y="266700"/>
            <a:ext cx="9288045" cy="126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 spc="304" dirty="0">
                <a:solidFill>
                  <a:srgbClr val="000000"/>
                </a:solidFill>
                <a:latin typeface="Arial Rounded MT Bold" panose="020F0704030504030204" pitchFamily="34" charset="0"/>
                <a:ea typeface="Krabuler"/>
                <a:cs typeface="Krabuler"/>
                <a:sym typeface="Krabuler"/>
              </a:rPr>
              <a:t>CONCLUSIONS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51433" y="-68578"/>
            <a:ext cx="10083238" cy="1393320"/>
          </a:xfrm>
          <a:custGeom>
            <a:avLst/>
            <a:gdLst/>
            <a:ahLst/>
            <a:cxnLst/>
            <a:rect l="l" t="t" r="r" b="b"/>
            <a:pathLst>
              <a:path w="10083238" h="1393320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Google Shape;709;p67">
            <a:extLst>
              <a:ext uri="{FF2B5EF4-FFF2-40B4-BE49-F238E27FC236}">
                <a16:creationId xmlns:a16="http://schemas.microsoft.com/office/drawing/2014/main" id="{A10658B7-1622-4D8F-A893-5154C70C50D5}"/>
              </a:ext>
            </a:extLst>
          </p:cNvPr>
          <p:cNvSpPr txBox="1">
            <a:spLocks/>
          </p:cNvSpPr>
          <p:nvPr/>
        </p:nvSpPr>
        <p:spPr>
          <a:xfrm>
            <a:off x="4876800" y="190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sz="9600" b="1" dirty="0"/>
              <a:t>Resources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B8254EC-24C9-4DC7-96EE-19BCD440C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714500"/>
            <a:ext cx="5451727" cy="3429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3DE6516-0CAA-4D03-B949-A44A9B2AC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50080"/>
            <a:ext cx="3962400" cy="13868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8C8BBC9-B240-4BBA-9761-B9568337A7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095" b="31915"/>
          <a:stretch/>
        </p:blipFill>
        <p:spPr>
          <a:xfrm>
            <a:off x="1580802" y="6048798"/>
            <a:ext cx="5470632" cy="185121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A1FEDCD-914B-40FA-B684-295925472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4580" y="7924435"/>
            <a:ext cx="4448040" cy="17346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29F80BC-2254-48FA-BCEF-992D5507FD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8800" y="4175330"/>
            <a:ext cx="4691922" cy="262747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22C681B-8362-412A-B939-944938D99A4F}"/>
              </a:ext>
            </a:extLst>
          </p:cNvPr>
          <p:cNvSpPr txBox="1"/>
          <p:nvPr/>
        </p:nvSpPr>
        <p:spPr>
          <a:xfrm>
            <a:off x="12484692" y="4765792"/>
            <a:ext cx="24778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/>
              <a:t>.com</a:t>
            </a:r>
            <a:endParaRPr lang="en-IN" sz="88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542D001-5D29-4644-A1DA-855C411A2A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9862" y="6669992"/>
            <a:ext cx="6214811" cy="14465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6B6A9EE-91D5-4E49-97F0-BDB72CCEC563}"/>
              </a:ext>
            </a:extLst>
          </p:cNvPr>
          <p:cNvSpPr txBox="1"/>
          <p:nvPr/>
        </p:nvSpPr>
        <p:spPr>
          <a:xfrm>
            <a:off x="15473787" y="6260215"/>
            <a:ext cx="19992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 dirty="0">
                <a:latin typeface="French Script MT" panose="03020402040607040605" pitchFamily="66" charset="0"/>
              </a:rPr>
              <a:t>.com</a:t>
            </a:r>
            <a:endParaRPr lang="en-IN" sz="11500" b="1" dirty="0">
              <a:latin typeface="French Script MT" panose="03020402040607040605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9DC15-8479-409B-BE09-976675E9DA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513" y="2207265"/>
            <a:ext cx="4922324" cy="276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4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6CE474A-D575-4A34-A8EF-16A503377F3E}"/>
              </a:ext>
            </a:extLst>
          </p:cNvPr>
          <p:cNvSpPr/>
          <p:nvPr/>
        </p:nvSpPr>
        <p:spPr>
          <a:xfrm>
            <a:off x="9752595" y="-301411"/>
            <a:ext cx="12710840" cy="1756407"/>
          </a:xfrm>
          <a:custGeom>
            <a:avLst/>
            <a:gdLst/>
            <a:ahLst/>
            <a:cxnLst/>
            <a:rect l="l" t="t" r="r" b="b"/>
            <a:pathLst>
              <a:path w="12710840" h="1756407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95AD5A-DF1B-4D03-AB7E-C6D0F3A3E5D8}"/>
              </a:ext>
            </a:extLst>
          </p:cNvPr>
          <p:cNvSpPr/>
          <p:nvPr/>
        </p:nvSpPr>
        <p:spPr>
          <a:xfrm rot="-10800000">
            <a:off x="-5599813" y="8633321"/>
            <a:ext cx="13959219" cy="1928910"/>
          </a:xfrm>
          <a:custGeom>
            <a:avLst/>
            <a:gdLst/>
            <a:ahLst/>
            <a:cxnLst/>
            <a:rect l="l" t="t" r="r" b="b"/>
            <a:pathLst>
              <a:path w="13959219" h="1928910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631BF-A4D5-4867-A6AC-58BF8903E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800100"/>
            <a:ext cx="10591800" cy="10591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7750D7-8185-401D-A3FD-3F4CF1B12243}"/>
              </a:ext>
            </a:extLst>
          </p:cNvPr>
          <p:cNvSpPr txBox="1"/>
          <p:nvPr/>
        </p:nvSpPr>
        <p:spPr>
          <a:xfrm>
            <a:off x="4894490" y="-122359"/>
            <a:ext cx="9403896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900" b="1" dirty="0">
                <a:latin typeface="Arial Rounded MT Bold" panose="020F0704030504030204" pitchFamily="34" charset="0"/>
              </a:rPr>
              <a:t>S</a:t>
            </a:r>
            <a:r>
              <a:rPr lang="en-IN" sz="19900" b="1" i="0" dirty="0">
                <a:effectLst/>
                <a:latin typeface="Arial Rounded MT Bold" panose="020F0704030504030204" pitchFamily="34" charset="0"/>
              </a:rPr>
              <a:t>pecial</a:t>
            </a:r>
            <a:endParaRPr lang="en-IN" sz="199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22F84-DA5B-4BC6-BB78-B3CA12A6F4A1}"/>
              </a:ext>
            </a:extLst>
          </p:cNvPr>
          <p:cNvSpPr txBox="1"/>
          <p:nvPr/>
        </p:nvSpPr>
        <p:spPr>
          <a:xfrm>
            <a:off x="12944711" y="2927509"/>
            <a:ext cx="312520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THX</a:t>
            </a:r>
            <a:endParaRPr lang="en-IN" sz="13800" b="1" dirty="0"/>
          </a:p>
        </p:txBody>
      </p:sp>
    </p:spTree>
    <p:extLst>
      <p:ext uri="{BB962C8B-B14F-4D97-AF65-F5344CB8AC3E}">
        <p14:creationId xmlns:p14="http://schemas.microsoft.com/office/powerpoint/2010/main" val="332077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705A696E-EC34-4519-9ED8-4E8B1F14DABE}"/>
              </a:ext>
            </a:extLst>
          </p:cNvPr>
          <p:cNvSpPr txBox="1"/>
          <p:nvPr/>
        </p:nvSpPr>
        <p:spPr>
          <a:xfrm flipH="1">
            <a:off x="1219200" y="3989338"/>
            <a:ext cx="1584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dirty="0"/>
              <a:t>AI is not the future—it’s the present. It’s more than just a webpage; it goes beyond that. The real question is—how will you use it?     -Human</a:t>
            </a:r>
            <a:endParaRPr lang="en-US" sz="4800" dirty="0">
              <a:latin typeface="+mj-lt"/>
            </a:endParaRPr>
          </a:p>
        </p:txBody>
      </p:sp>
      <p:sp>
        <p:nvSpPr>
          <p:cNvPr id="49" name="Freeform 4">
            <a:extLst>
              <a:ext uri="{FF2B5EF4-FFF2-40B4-BE49-F238E27FC236}">
                <a16:creationId xmlns:a16="http://schemas.microsoft.com/office/drawing/2014/main" id="{CE8A1756-175C-4DCA-8DA8-ABF9A6E68091}"/>
              </a:ext>
            </a:extLst>
          </p:cNvPr>
          <p:cNvSpPr/>
          <p:nvPr/>
        </p:nvSpPr>
        <p:spPr>
          <a:xfrm rot="197702">
            <a:off x="-636842" y="-447710"/>
            <a:ext cx="9699658" cy="3103890"/>
          </a:xfrm>
          <a:custGeom>
            <a:avLst/>
            <a:gdLst/>
            <a:ahLst/>
            <a:cxnLst/>
            <a:rect l="l" t="t" r="r" b="b"/>
            <a:pathLst>
              <a:path w="9699658" h="3103890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">
            <a:extLst>
              <a:ext uri="{FF2B5EF4-FFF2-40B4-BE49-F238E27FC236}">
                <a16:creationId xmlns:a16="http://schemas.microsoft.com/office/drawing/2014/main" id="{1307673A-A638-4019-8792-BA7E98FAEDA3}"/>
              </a:ext>
            </a:extLst>
          </p:cNvPr>
          <p:cNvSpPr txBox="1"/>
          <p:nvPr/>
        </p:nvSpPr>
        <p:spPr>
          <a:xfrm>
            <a:off x="-456291" y="266700"/>
            <a:ext cx="9288045" cy="126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 spc="304" dirty="0">
                <a:solidFill>
                  <a:srgbClr val="000000"/>
                </a:solidFill>
                <a:latin typeface="Arial Rounded MT Bold" panose="020F0704030504030204" pitchFamily="34" charset="0"/>
                <a:ea typeface="Krabuler"/>
                <a:cs typeface="Krabuler"/>
                <a:sym typeface="Krabuler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12392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9223231" y="8895219"/>
            <a:ext cx="11552272" cy="1596314"/>
          </a:xfrm>
          <a:custGeom>
            <a:avLst/>
            <a:gdLst/>
            <a:ahLst/>
            <a:cxnLst/>
            <a:rect l="l" t="t" r="r" b="b"/>
            <a:pathLst>
              <a:path w="11552272" h="1596314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649686" y="-149539"/>
            <a:ext cx="11546413" cy="1595504"/>
          </a:xfrm>
          <a:custGeom>
            <a:avLst/>
            <a:gdLst/>
            <a:ahLst/>
            <a:cxnLst/>
            <a:rect l="l" t="t" r="r" b="b"/>
            <a:pathLst>
              <a:path w="11546413" h="1595504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55707" y="2879051"/>
            <a:ext cx="8376587" cy="549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9A78F-4A35-4A87-B782-AA5D7C85536E}"/>
              </a:ext>
            </a:extLst>
          </p:cNvPr>
          <p:cNvSpPr txBox="1"/>
          <p:nvPr/>
        </p:nvSpPr>
        <p:spPr>
          <a:xfrm>
            <a:off x="762000" y="8862378"/>
            <a:ext cx="1775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NOTE: This presentation was created by human intelligence.</a:t>
            </a: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465</Words>
  <Application>Microsoft Office PowerPoint</Application>
  <PresentationFormat>Custom</PresentationFormat>
  <Paragraphs>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-apple-system</vt:lpstr>
      <vt:lpstr>Arial Black</vt:lpstr>
      <vt:lpstr>Arial Rounded MT Bold</vt:lpstr>
      <vt:lpstr>Pompiere</vt:lpstr>
      <vt:lpstr>French Script MT</vt:lpstr>
      <vt:lpstr>Calibri</vt:lpstr>
      <vt:lpstr>Arial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Playful Doodle Digital Brainstorm Presentation</dc:title>
  <dc:creator>Vaibhav Gabani</dc:creator>
  <cp:lastModifiedBy>Vaibhav Gabani</cp:lastModifiedBy>
  <cp:revision>49</cp:revision>
  <dcterms:created xsi:type="dcterms:W3CDTF">2006-08-16T00:00:00Z</dcterms:created>
  <dcterms:modified xsi:type="dcterms:W3CDTF">2025-03-10T18:58:49Z</dcterms:modified>
  <dc:identifier>DAGemYyKGmM</dc:identifier>
</cp:coreProperties>
</file>